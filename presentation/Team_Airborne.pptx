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rata" charset="1" panose="00000500000000000000"/>
      <p:regular r:id="rId14"/>
    </p:embeddedFont>
    <p:embeddedFont>
      <p:font typeface="Raleway" charset="1" panose="020B0503030101060003"/>
      <p:regular r:id="rId15"/>
    </p:embeddedFont>
    <p:embeddedFont>
      <p:font typeface="Raleway Bold" charset="1" panose="020B08030301010600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8608" y="4480711"/>
            <a:ext cx="12990785" cy="142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6"/>
              </a:lnSpc>
            </a:pPr>
            <a:r>
              <a:rPr lang="en-US" sz="5426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QNX RTOS POWERED CUSTOM FLIGHT CONTROLLER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34734" y="9510857"/>
            <a:ext cx="591378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K. Saathvik Vardhan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510857"/>
            <a:ext cx="295689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Nampally Rahul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00891" y="9510857"/>
            <a:ext cx="591378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Kukkadapu Sai Vinay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6233" y="7398945"/>
            <a:ext cx="1299078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By Team Airborne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33450"/>
            <a:ext cx="960653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42357"/>
            <a:ext cx="14646918" cy="605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Curre</a:t>
            </a: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nt drone flight controllers are: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Mostly closed hardware / proprietary firmware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Limited real-time determinism in complex missions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Hard to customize for research and experimentation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Difficult to integrate advanced RTOS features</a:t>
            </a:r>
          </a:p>
          <a:p>
            <a:pPr algn="l">
              <a:lnSpc>
                <a:spcPts val="3749"/>
              </a:lnSpc>
            </a:pPr>
          </a:p>
          <a:p>
            <a:pPr algn="just">
              <a:lnSpc>
                <a:spcPts val="3749"/>
              </a:lnSpc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Our Goal</a:t>
            </a:r>
          </a:p>
          <a:p>
            <a:pPr algn="just">
              <a:lnSpc>
                <a:spcPts val="3749"/>
              </a:lnSpc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Design an open hardware flight controller using QNX RTOS that provides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deterministic real-time control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modular architecture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high reliability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flexible customization</a:t>
            </a:r>
          </a:p>
          <a:p>
            <a:pPr algn="just">
              <a:lnSpc>
                <a:spcPts val="374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62101"/>
            <a:ext cx="9776200" cy="85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Problem Statement no. 50 - Open Hardware Real-World System</a:t>
            </a:r>
          </a:p>
          <a:p>
            <a:pPr algn="l">
              <a:lnSpc>
                <a:spcPts val="348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33450"/>
            <a:ext cx="691993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MOTIVATION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21931"/>
            <a:ext cx="6919931" cy="594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Drone control systems require: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Hard real-time response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Reliable sensor fusion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Safe multi-threaded operation</a:t>
            </a:r>
          </a:p>
          <a:p>
            <a:pPr algn="just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Predictable scheduling</a:t>
            </a:r>
          </a:p>
          <a:p>
            <a:pPr algn="just">
              <a:lnSpc>
                <a:spcPts val="3749"/>
              </a:lnSpc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QNX RTOS offers: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 Microkernel architecture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 Deterministic scheduling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 Reliable IPC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 Fault isolation</a:t>
            </a:r>
          </a:p>
          <a:p>
            <a:pPr algn="just">
              <a:lnSpc>
                <a:spcPts val="3749"/>
              </a:lnSpc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These features make QNX suitable for safety-critical systems like drones.</a:t>
            </a:r>
          </a:p>
          <a:p>
            <a:pPr algn="just">
              <a:lnSpc>
                <a:spcPts val="27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89112"/>
            <a:ext cx="9776200" cy="129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Why QNX RTOS for Drones?</a:t>
            </a:r>
          </a:p>
          <a:p>
            <a:pPr algn="l">
              <a:lnSpc>
                <a:spcPts val="3482"/>
              </a:lnSpc>
            </a:pPr>
          </a:p>
          <a:p>
            <a:pPr algn="l">
              <a:lnSpc>
                <a:spcPts val="348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81153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sp>
        <p:nvSpPr>
          <p:cNvPr name="AutoShape 6" id="6"/>
          <p:cNvSpPr/>
          <p:nvPr/>
        </p:nvSpPr>
        <p:spPr>
          <a:xfrm>
            <a:off x="6178489" y="5055240"/>
            <a:ext cx="10739797" cy="0"/>
          </a:xfrm>
          <a:prstGeom prst="line">
            <a:avLst/>
          </a:prstGeom>
          <a:ln cap="flat" w="9525">
            <a:solidFill>
              <a:srgbClr val="804F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1548387" y="1649440"/>
            <a:ext cx="0" cy="6826195"/>
          </a:xfrm>
          <a:prstGeom prst="line">
            <a:avLst/>
          </a:prstGeom>
          <a:ln cap="flat" w="9525">
            <a:solidFill>
              <a:srgbClr val="804F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666242" y="2154804"/>
            <a:ext cx="434386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Sensors: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2893" y="2764155"/>
            <a:ext cx="4587216" cy="233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BNO085 → Orientation &amp; motion sensing</a:t>
            </a:r>
          </a:p>
          <a:p>
            <a:pPr algn="l" marL="453388" indent="-226694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MS5611 → Altitude estimation</a:t>
            </a:r>
          </a:p>
          <a:p>
            <a:pPr algn="l" marL="453388" indent="-226694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HMC5883L → Heading detection</a:t>
            </a:r>
          </a:p>
          <a:p>
            <a:pPr algn="l" marL="453388" indent="-226694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NEO-M8N → Global positioning</a:t>
            </a:r>
          </a:p>
          <a:p>
            <a:pPr algn="l">
              <a:lnSpc>
                <a:spcPts val="314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126380" y="2097654"/>
            <a:ext cx="434386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Actuators: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1690" y="2773680"/>
            <a:ext cx="4548556" cy="77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6932" indent="-203466" lvl="1">
              <a:lnSpc>
                <a:spcPts val="2827"/>
              </a:lnSpc>
              <a:buFont typeface="Arial"/>
              <a:buChar char="•"/>
            </a:pPr>
            <a:r>
              <a:rPr lang="en-US" sz="1884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BLDC Motors via ESC</a:t>
            </a:r>
          </a:p>
          <a:p>
            <a:pPr algn="l">
              <a:lnSpc>
                <a:spcPts val="345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666242" y="5924550"/>
            <a:ext cx="434386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Communication: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4567" y="6282441"/>
            <a:ext cx="4343866" cy="233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SPI → IMU</a:t>
            </a:r>
          </a:p>
          <a:p>
            <a:pPr algn="l" marL="453388" indent="-226694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ART → GPS</a:t>
            </a:r>
          </a:p>
          <a:p>
            <a:pPr algn="l" marL="453388" indent="-226694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I2C → Barometer &amp; Magnetometer</a:t>
            </a:r>
          </a:p>
          <a:p>
            <a:pPr algn="l" marL="453388" indent="-226694" lvl="1">
              <a:lnSpc>
                <a:spcPts val="3149"/>
              </a:lnSpc>
              <a:buFont typeface="Arial"/>
              <a:buChar char="•"/>
            </a:pPr>
            <a:r>
              <a:rPr lang="en-US" sz="20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iBUS → Receiver input</a:t>
            </a:r>
          </a:p>
          <a:p>
            <a:pPr algn="l">
              <a:lnSpc>
                <a:spcPts val="314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126380" y="5924550"/>
            <a:ext cx="434386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Controller: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26380" y="6600576"/>
            <a:ext cx="434386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Raspberry Pi 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7750" y="2070062"/>
            <a:ext cx="9776200" cy="88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2587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Hardware Architecture</a:t>
            </a:r>
          </a:p>
          <a:p>
            <a:pPr algn="l">
              <a:lnSpc>
                <a:spcPts val="348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81153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2089112"/>
            <a:ext cx="9776200" cy="41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Software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2965133"/>
            <a:ext cx="7341513" cy="54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</a:t>
            </a:r>
            <a:r>
              <a:rPr lang="en-US" b="true" sz="2400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ore components: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Sensor Manager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Sensor Fusion Module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Flight Control Algorithm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Motor Control Module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Communication Manager</a:t>
            </a:r>
          </a:p>
          <a:p>
            <a:pPr algn="l">
              <a:lnSpc>
                <a:spcPts val="3359"/>
              </a:lnSpc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Each module runs as separate processes/threads.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Benefits: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Fault isolation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Easy debugging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Real-time scheduling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532448"/>
            <a:ext cx="970956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RTOS CONCEPTS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54307"/>
            <a:ext cx="8717701" cy="78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1. Processes &amp; Threads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Separate processes for: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sensor acquisition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control algorithms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communication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2. Scheduling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Priority-based scheduling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Control loop given highest priority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3. Inter-Process Communication (IPC)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Used for communication between modules: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message passing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shared memory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4. Resource Management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Safe access to: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SPI bus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UART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I2C sensors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570548"/>
            <a:ext cx="897595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THREAD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8418" y="1905000"/>
            <a:ext cx="6444250" cy="65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High Priority Threads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IMU Data Thread (400–1000 Hz)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Control Loop Thread</a:t>
            </a:r>
          </a:p>
          <a:p>
            <a:pPr algn="l">
              <a:lnSpc>
                <a:spcPts val="3749"/>
              </a:lnSpc>
            </a:pPr>
          </a:p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Medium Priority Threads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GPS Processing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Sensor Fusion</a:t>
            </a:r>
          </a:p>
          <a:p>
            <a:pPr algn="l">
              <a:lnSpc>
                <a:spcPts val="3749"/>
              </a:lnSpc>
            </a:pPr>
          </a:p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Low Priority Threads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Telemetry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Logging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Diagnostics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This ensures deterministic control timing.</a:t>
            </a:r>
          </a:p>
          <a:p>
            <a:pPr algn="l">
              <a:lnSpc>
                <a:spcPts val="374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AD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2372622" cy="695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2622" cy="695960"/>
            </a:xfrm>
            <a:custGeom>
              <a:avLst/>
              <a:gdLst/>
              <a:ahLst/>
              <a:cxnLst/>
              <a:rect r="r" b="b" t="t" l="l"/>
              <a:pathLst>
                <a:path h="695960" w="12372622">
                  <a:moveTo>
                    <a:pt x="0" y="0"/>
                  </a:moveTo>
                  <a:lnTo>
                    <a:pt x="12372622" y="0"/>
                  </a:lnTo>
                  <a:lnTo>
                    <a:pt x="12372622" y="695960"/>
                  </a:lnTo>
                  <a:lnTo>
                    <a:pt x="0" y="695960"/>
                  </a:lnTo>
                  <a:close/>
                </a:path>
              </a:pathLst>
            </a:custGeom>
            <a:solidFill>
              <a:srgbClr val="A3B18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33450"/>
            <a:ext cx="479164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344E41"/>
                </a:solidFill>
                <a:latin typeface="Prata"/>
                <a:ea typeface="Prata"/>
                <a:cs typeface="Prata"/>
                <a:sym typeface="Prata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6" y="9510857"/>
            <a:ext cx="316736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82309"/>
            <a:ext cx="13345794" cy="437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QNX R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OS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ba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e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d 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fl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gh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t 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control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le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Key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cont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ri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but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i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o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n</a:t>
            </a:r>
            <a:r>
              <a:rPr lang="en-US" b="true" sz="2499" strike="noStrike" u="none">
                <a:solidFill>
                  <a:srgbClr val="344E41"/>
                </a:solidFill>
                <a:latin typeface="Raleway Bold"/>
                <a:ea typeface="Raleway Bold"/>
                <a:cs typeface="Raleway Bold"/>
                <a:sym typeface="Raleway Bold"/>
              </a:rPr>
              <a:t>s: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mo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ul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rchit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ct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de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term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al-t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rf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rman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ce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scalable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de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si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imp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ov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r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eli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bi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lity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This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stem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dem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on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st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at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es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acti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ppl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ca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ion of QNX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RTOS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co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ncept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in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re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al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-wor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embedded sy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st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em</a:t>
            </a:r>
            <a:r>
              <a:rPr lang="en-US" sz="2499" strike="noStrike" u="none">
                <a:solidFill>
                  <a:srgbClr val="344E41"/>
                </a:solidFill>
                <a:latin typeface="Raleway"/>
                <a:ea typeface="Raleway"/>
                <a:cs typeface="Raleway"/>
                <a:sym typeface="Raleway"/>
              </a:rPr>
              <a:t>s.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DAHDeW1afDk</dc:identifier>
  <dcterms:modified xsi:type="dcterms:W3CDTF">2011-08-01T06:04:30Z</dcterms:modified>
  <cp:revision>1</cp:revision>
  <dc:title>Green Monochromatic Simple The Minimalist Presentation Template</dc:title>
</cp:coreProperties>
</file>