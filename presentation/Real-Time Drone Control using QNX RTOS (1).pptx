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rata" charset="1" panose="00000500000000000000"/>
      <p:regular r:id="rId18"/>
    </p:embeddedFont>
    <p:embeddedFont>
      <p:font typeface="Raleway" charset="1" panose="00000000000000000000"/>
      <p:regular r:id="rId19"/>
    </p:embeddedFont>
    <p:embeddedFont>
      <p:font typeface="Raleway Bold" charset="1" panose="00000000000000000000"/>
      <p:regular r:id="rId20"/>
    </p:embeddedFont>
    <p:embeddedFont>
      <p:font typeface="Canva Sans" charset="1" panose="020B0503030501040103"/>
      <p:regular r:id="rId21"/>
    </p:embeddedFont>
    <p:embeddedFont>
      <p:font typeface="Canva Sans Bold" charset="1" panose="020B08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862466" y="4412590"/>
            <a:ext cx="14563068" cy="730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6"/>
              </a:lnSpc>
            </a:pPr>
            <a:r>
              <a:rPr lang="en-US" sz="5526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Fault Tolerance System for Aerial Vehicles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34732" y="9453705"/>
            <a:ext cx="5913787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8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K. Saathvik Vardhan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453705"/>
            <a:ext cx="2956893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Nampally Rahul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00893" y="9453705"/>
            <a:ext cx="5913787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8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Kukkadapu Sai Vinay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42703" y="6914031"/>
            <a:ext cx="3602593" cy="1348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7"/>
              </a:lnSpc>
            </a:pPr>
            <a:r>
              <a:rPr lang="en-US" sz="3199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By Team Airborne</a:t>
            </a:r>
          </a:p>
          <a:p>
            <a:pPr algn="ctr">
              <a:lnSpc>
                <a:spcPts val="5370"/>
              </a:lnSpc>
            </a:pPr>
            <a:r>
              <a:rPr lang="en-US" sz="30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MGIT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091933" y="9453705"/>
            <a:ext cx="3167367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8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838200"/>
            <a:ext cx="9606534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PROBLEM 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0125" y="2829822"/>
            <a:ext cx="7853363" cy="587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17"/>
              </a:lnSpc>
            </a:pPr>
            <a:r>
              <a:rPr lang="en-US" sz="2774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Modern aerial systems such as advanced drones and eVTOL platforms rely on traditional real-time operating systems like VxWorks, INTEGRITY RTOS, PikeOS,</a:t>
            </a:r>
            <a:r>
              <a:rPr lang="en-US" sz="2774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 and Deos RTOS to achieve deterministic real-time performance.</a:t>
            </a:r>
          </a:p>
          <a:p>
            <a:pPr algn="just">
              <a:lnSpc>
                <a:spcPts val="4717"/>
              </a:lnSpc>
            </a:pPr>
          </a:p>
          <a:p>
            <a:pPr algn="just">
              <a:lnSpc>
                <a:spcPts val="4717"/>
              </a:lnSpc>
            </a:pPr>
            <a:r>
              <a:rPr lang="en-US" sz="2774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However, these systems are built on static and tightly coupled architectural models, which impose significant limitations for next-generation, high-compute aerial platforms.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934762"/>
            <a:ext cx="11118471" cy="481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2786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Problem Statement no. 50 - Open Hardware Real-World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68014" y="3041259"/>
            <a:ext cx="7965363" cy="3587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79"/>
              </a:lnSpc>
            </a:pPr>
            <a:r>
              <a:rPr lang="en-US" b="true" sz="2813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To addr</a:t>
            </a:r>
            <a:r>
              <a:rPr lang="en-US" b="true" sz="2813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ess the limitations of traditional avionics RTOS architectures, this project implements a modular fault tolerance system in flight controllers on a Raspberry Pi 4 using QNX Neutrino RTOS, leveraging its microkernel architecture and synchronous message-passing IPC.</a:t>
            </a:r>
          </a:p>
        </p:txBody>
      </p:sp>
      <p:sp>
        <p:nvSpPr>
          <p:cNvPr name="AutoShape 9" id="9"/>
          <p:cNvSpPr/>
          <p:nvPr/>
        </p:nvSpPr>
        <p:spPr>
          <a:xfrm>
            <a:off x="9134475" y="3296049"/>
            <a:ext cx="19050" cy="3694902"/>
          </a:xfrm>
          <a:prstGeom prst="line">
            <a:avLst/>
          </a:prstGeom>
          <a:ln cap="flat" w="38100">
            <a:solidFill>
              <a:srgbClr val="344E4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091933" y="9453705"/>
            <a:ext cx="3167367" cy="41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8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96596" y="952500"/>
            <a:ext cx="13463553" cy="646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Fault-Tolerant Real-Time Communication in QNX (RPi 4)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27851" y="2344749"/>
            <a:ext cx="14531449" cy="6217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7"/>
              </a:lnSpc>
            </a:pPr>
            <a:r>
              <a:rPr lang="en-US" sz="3299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Platform: Raspberry Pi 4</a:t>
            </a:r>
          </a:p>
          <a:p>
            <a:pPr algn="l">
              <a:lnSpc>
                <a:spcPts val="5477"/>
              </a:lnSpc>
            </a:pPr>
            <a:r>
              <a:rPr lang="en-US" sz="3299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RTOS: QNX Neutrino</a:t>
            </a:r>
          </a:p>
          <a:p>
            <a:pPr algn="l">
              <a:lnSpc>
                <a:spcPts val="5477"/>
              </a:lnSpc>
            </a:pPr>
            <a:r>
              <a:rPr lang="en-US" sz="3299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Sensor: MPU9250 (I2C)</a:t>
            </a:r>
          </a:p>
          <a:p>
            <a:pPr algn="l">
              <a:lnSpc>
                <a:spcPts val="5477"/>
              </a:lnSpc>
            </a:pPr>
            <a:r>
              <a:rPr lang="en-US" sz="3299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Focus:</a:t>
            </a:r>
          </a:p>
          <a:p>
            <a:pPr algn="l" marL="712462" indent="-356231" lvl="1">
              <a:lnSpc>
                <a:spcPts val="5477"/>
              </a:lnSpc>
              <a:buFont typeface="Arial"/>
              <a:buChar char="•"/>
            </a:pPr>
            <a:r>
              <a:rPr lang="en-US" sz="3299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IPC (M</a:t>
            </a:r>
            <a:r>
              <a:rPr lang="en-US" sz="3299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essage Passing)</a:t>
            </a:r>
          </a:p>
          <a:p>
            <a:pPr algn="l" marL="712462" indent="-356231" lvl="1">
              <a:lnSpc>
                <a:spcPts val="5477"/>
              </a:lnSpc>
              <a:buFont typeface="Arial"/>
              <a:buChar char="•"/>
            </a:pPr>
            <a:r>
              <a:rPr lang="en-US" sz="3299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F</a:t>
            </a:r>
            <a:r>
              <a:rPr lang="en-US" sz="3299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ault Tol</a:t>
            </a:r>
            <a:r>
              <a:rPr lang="en-US" sz="3299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e</a:t>
            </a:r>
            <a:r>
              <a:rPr lang="en-US" sz="3299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rance</a:t>
            </a:r>
          </a:p>
          <a:p>
            <a:pPr algn="l" marL="712462" indent="-356231" lvl="1">
              <a:lnSpc>
                <a:spcPts val="5477"/>
              </a:lnSpc>
              <a:buFont typeface="Arial"/>
              <a:buChar char="•"/>
            </a:pPr>
            <a:r>
              <a:rPr lang="en-US" sz="3299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Latency &amp; Jitter Analysis</a:t>
            </a:r>
          </a:p>
          <a:p>
            <a:pPr algn="l" marL="712462" indent="-356231" lvl="1">
              <a:lnSpc>
                <a:spcPts val="5477"/>
              </a:lnSpc>
              <a:buFont typeface="Arial"/>
              <a:buChar char="•"/>
            </a:pPr>
            <a:r>
              <a:rPr lang="en-US" sz="3299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CPU</a:t>
            </a:r>
            <a:r>
              <a:rPr lang="en-US" sz="3299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 Performance Monitoring</a:t>
            </a:r>
          </a:p>
          <a:p>
            <a:pPr algn="l">
              <a:lnSpc>
                <a:spcPts val="5477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38200"/>
            <a:ext cx="8115300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SYSTEM ARCHITECTURE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4091933" y="9453705"/>
            <a:ext cx="3167367" cy="41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8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3724" y="5050479"/>
            <a:ext cx="10749324" cy="9525"/>
            <a:chOff x="0" y="0"/>
            <a:chExt cx="14332433" cy="12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" y="0"/>
              <a:ext cx="14319758" cy="12700"/>
            </a:xfrm>
            <a:custGeom>
              <a:avLst/>
              <a:gdLst/>
              <a:ahLst/>
              <a:cxnLst/>
              <a:rect r="r" b="b" t="t" l="l"/>
              <a:pathLst>
                <a:path h="12700" w="14319758">
                  <a:moveTo>
                    <a:pt x="0" y="0"/>
                  </a:moveTo>
                  <a:lnTo>
                    <a:pt x="14319758" y="0"/>
                  </a:lnTo>
                  <a:lnTo>
                    <a:pt x="1431975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804F3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543624" y="1644682"/>
            <a:ext cx="9525" cy="6835721"/>
            <a:chOff x="0" y="0"/>
            <a:chExt cx="12700" cy="91142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6350"/>
              <a:ext cx="12700" cy="9101582"/>
            </a:xfrm>
            <a:custGeom>
              <a:avLst/>
              <a:gdLst/>
              <a:ahLst/>
              <a:cxnLst/>
              <a:rect r="r" b="b" t="t" l="l"/>
              <a:pathLst>
                <a:path h="9101582" w="12700">
                  <a:moveTo>
                    <a:pt x="12700" y="0"/>
                  </a:moveTo>
                  <a:lnTo>
                    <a:pt x="12700" y="9101582"/>
                  </a:lnTo>
                  <a:lnTo>
                    <a:pt x="0" y="91015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4F3B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666243" y="2097653"/>
            <a:ext cx="4343867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Sensors: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22888" y="2687955"/>
            <a:ext cx="4587211" cy="1948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9832" indent="-159944" lvl="2">
              <a:lnSpc>
                <a:spcPts val="3148"/>
              </a:lnSpc>
              <a:buFont typeface="Arial"/>
              <a:buChar char="⚬"/>
            </a:pP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NEO-M8N → Global positioning</a:t>
            </a:r>
          </a:p>
          <a:p>
            <a:pPr algn="l" marL="479832" indent="-159944" lvl="2">
              <a:lnSpc>
                <a:spcPts val="3148"/>
              </a:lnSpc>
              <a:buFont typeface="Arial"/>
              <a:buChar char="⚬"/>
            </a:pP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MPU9250 → Client → Server</a:t>
            </a:r>
          </a:p>
          <a:p>
            <a:pPr algn="l" marL="479938" indent="-159979" lvl="2">
              <a:lnSpc>
                <a:spcPts val="3149"/>
              </a:lnSpc>
              <a:buFont typeface="Arial"/>
              <a:buChar char="⚬"/>
            </a:pP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MS5611 → Altitude estimation</a:t>
            </a:r>
          </a:p>
          <a:p>
            <a:pPr algn="l" marL="479938" indent="-159979" lvl="2">
              <a:lnSpc>
                <a:spcPts val="3149"/>
              </a:lnSpc>
              <a:buFont typeface="Arial"/>
              <a:buChar char="⚬"/>
            </a:pP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HMC5883L → Heading detection</a:t>
            </a:r>
          </a:p>
          <a:p>
            <a:pPr algn="l">
              <a:lnSpc>
                <a:spcPts val="314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2126382" y="2040503"/>
            <a:ext cx="4343867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Actuators: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21690" y="2707005"/>
            <a:ext cx="4548559" cy="84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0771" indent="-143590" lvl="2">
              <a:lnSpc>
                <a:spcPts val="2826"/>
              </a:lnSpc>
              <a:buFont typeface="Arial"/>
              <a:buChar char="⚬"/>
            </a:pPr>
            <a:r>
              <a:rPr lang="en-US" sz="1883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BLDC Motors via ESC</a:t>
            </a:r>
          </a:p>
          <a:p>
            <a:pPr algn="l" marL="430771" indent="-143590" lvl="2">
              <a:lnSpc>
                <a:spcPts val="3454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6666243" y="5867400"/>
            <a:ext cx="4343867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Communication: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44561" y="6454140"/>
            <a:ext cx="4343867" cy="233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9938" indent="-159979" lvl="2">
              <a:lnSpc>
                <a:spcPts val="3149"/>
              </a:lnSpc>
              <a:buFont typeface="Arial"/>
              <a:buChar char="⚬"/>
            </a:pP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I2C → Barometer &amp; Magnetometer</a:t>
            </a:r>
          </a:p>
          <a:p>
            <a:pPr algn="l" marL="479832" indent="-159944" lvl="2">
              <a:lnSpc>
                <a:spcPts val="3148"/>
              </a:lnSpc>
              <a:buFont typeface="Arial"/>
              <a:buChar char="⚬"/>
            </a:pP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iBUS → Receiver input</a:t>
            </a:r>
          </a:p>
          <a:p>
            <a:pPr algn="l" marL="479832" indent="-159944" lvl="2">
              <a:lnSpc>
                <a:spcPts val="3148"/>
              </a:lnSpc>
              <a:buFont typeface="Arial"/>
              <a:buChar char="⚬"/>
            </a:pP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SPI → IMU</a:t>
            </a:r>
          </a:p>
          <a:p>
            <a:pPr algn="l" marL="479832" indent="-159944" lvl="2">
              <a:lnSpc>
                <a:spcPts val="3148"/>
              </a:lnSpc>
              <a:buFont typeface="Arial"/>
              <a:buChar char="⚬"/>
            </a:pP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UART → GPS</a:t>
            </a:r>
          </a:p>
          <a:p>
            <a:pPr algn="l">
              <a:lnSpc>
                <a:spcPts val="314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2126382" y="5867400"/>
            <a:ext cx="4343867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Controller: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26382" y="6533902"/>
            <a:ext cx="4343867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Raspberry Pi 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7750" y="2012909"/>
            <a:ext cx="4260713" cy="967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2786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Compon</a:t>
            </a:r>
            <a:r>
              <a:rPr lang="en-US" sz="2786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ents</a:t>
            </a:r>
          </a:p>
          <a:p>
            <a:pPr algn="l">
              <a:lnSpc>
                <a:spcPts val="3751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047750" y="2697480"/>
            <a:ext cx="4587211" cy="3120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Process 2 (Client)</a:t>
            </a:r>
          </a:p>
          <a:p>
            <a:pPr algn="l" marL="479832" indent="-159944" lvl="2">
              <a:lnSpc>
                <a:spcPts val="3148"/>
              </a:lnSpc>
              <a:buFont typeface="Arial"/>
              <a:buChar char="⚬"/>
            </a:pP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Reads MPU9250 via I2C</a:t>
            </a:r>
          </a:p>
          <a:p>
            <a:pPr algn="l">
              <a:lnSpc>
                <a:spcPts val="3148"/>
              </a:lnSpc>
            </a:pP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Process 1 (Server)</a:t>
            </a:r>
          </a:p>
          <a:p>
            <a:pPr algn="l" marL="453175" indent="-226587" lvl="1">
              <a:lnSpc>
                <a:spcPts val="3149"/>
              </a:lnSpc>
              <a:buFont typeface="Arial"/>
              <a:buChar char="•"/>
            </a:pP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eceives data via message passing</a:t>
            </a:r>
          </a:p>
          <a:p>
            <a:pPr algn="l">
              <a:lnSpc>
                <a:spcPts val="3148"/>
              </a:lnSpc>
            </a:pP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Monitor Logic</a:t>
            </a:r>
          </a:p>
          <a:p>
            <a:pPr algn="l" marL="479939" indent="-159980" lvl="2">
              <a:lnSpc>
                <a:spcPts val="3149"/>
              </a:lnSpc>
              <a:buFont typeface="Arial"/>
              <a:buChar char="⚬"/>
            </a:pP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Detects failure &amp; restarts client</a:t>
            </a:r>
          </a:p>
          <a:p>
            <a:pPr algn="l">
              <a:lnSpc>
                <a:spcPts val="3149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047750" y="5876925"/>
            <a:ext cx="2735401" cy="42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1"/>
              </a:lnSpc>
            </a:pPr>
            <a:r>
              <a:rPr lang="en-US" sz="2501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Key</a:t>
            </a:r>
            <a:r>
              <a:rPr lang="en-US" sz="2501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 Design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6454140"/>
            <a:ext cx="4343867" cy="1558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9832" indent="-159944" lvl="2">
              <a:lnSpc>
                <a:spcPts val="3148"/>
              </a:lnSpc>
              <a:buFont typeface="Arial"/>
              <a:buChar char="⚬"/>
            </a:pP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Fully</a:t>
            </a: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 process-based (no shared memory for I</a:t>
            </a: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PC)</a:t>
            </a:r>
          </a:p>
          <a:p>
            <a:pPr algn="l" marL="479832" indent="-159944" lvl="2">
              <a:lnSpc>
                <a:spcPts val="3148"/>
              </a:lnSpc>
              <a:buFont typeface="Arial"/>
              <a:buChar char="⚬"/>
            </a:pP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Modular &amp; restartable</a:t>
            </a:r>
          </a:p>
          <a:p>
            <a:pPr algn="l">
              <a:lnSpc>
                <a:spcPts val="314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656581"/>
            <a:ext cx="18288000" cy="630419"/>
            <a:chOff x="0" y="0"/>
            <a:chExt cx="24384000" cy="8405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840558"/>
            </a:xfrm>
            <a:custGeom>
              <a:avLst/>
              <a:gdLst/>
              <a:ahLst/>
              <a:cxnLst/>
              <a:rect r="r" b="b" t="t" l="l"/>
              <a:pathLst>
                <a:path h="84055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40558"/>
                  </a:lnTo>
                  <a:lnTo>
                    <a:pt x="0" y="840558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-5400000">
            <a:off x="4630919" y="-1643088"/>
            <a:ext cx="9026163" cy="13573177"/>
          </a:xfrm>
          <a:custGeom>
            <a:avLst/>
            <a:gdLst/>
            <a:ahLst/>
            <a:cxnLst/>
            <a:rect r="r" b="b" t="t" l="l"/>
            <a:pathLst>
              <a:path h="13573177" w="9026163">
                <a:moveTo>
                  <a:pt x="0" y="0"/>
                </a:moveTo>
                <a:lnTo>
                  <a:pt x="9026162" y="0"/>
                </a:lnTo>
                <a:lnTo>
                  <a:pt x="9026162" y="13573176"/>
                </a:lnTo>
                <a:lnTo>
                  <a:pt x="0" y="135731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346905" y="9599431"/>
            <a:ext cx="3167367" cy="41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8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38200"/>
            <a:ext cx="8115300" cy="821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IPC – Message Passing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4091933" y="9453705"/>
            <a:ext cx="3167367" cy="41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8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212843"/>
            <a:ext cx="6239946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Mechanism</a:t>
            </a:r>
          </a:p>
          <a:p>
            <a:pPr algn="ctr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MsgSen</a:t>
            </a:r>
            <a:r>
              <a:rPr lang="en-US" sz="2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d() → Client sends data</a:t>
            </a:r>
          </a:p>
          <a:p>
            <a:pPr algn="ctr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MsgReceive() → Server receives</a:t>
            </a:r>
          </a:p>
          <a:p>
            <a:pPr algn="ctr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MsgReply() → Acknowledgement</a:t>
            </a:r>
          </a:p>
          <a:p>
            <a:pPr algn="ctr">
              <a:lnSpc>
                <a:spcPts val="392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228834"/>
            <a:ext cx="5647730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Advantages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Synchronous</a:t>
            </a:r>
            <a:r>
              <a:rPr lang="en-US" sz="2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 → deterministic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Bu</a:t>
            </a:r>
            <a:r>
              <a:rPr lang="en-US" sz="2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ilt-in priority inheritance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No</a:t>
            </a:r>
            <a:r>
              <a:rPr lang="en-US" sz="2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 race conditions</a:t>
            </a:r>
          </a:p>
          <a:p>
            <a:pPr algn="ctr">
              <a:lnSpc>
                <a:spcPts val="392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487285"/>
            <a:ext cx="8457013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Sensor</a:t>
            </a:r>
            <a:r>
              <a:rPr lang="en-US" sz="30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 data transferred reliably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No shared memory dependency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656209"/>
            <a:ext cx="9709566" cy="821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Fault</a:t>
            </a:r>
            <a:r>
              <a:rPr lang="en-US" sz="4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 Tolerance Mechanism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091933" y="9453705"/>
            <a:ext cx="3167367" cy="41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8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082825"/>
            <a:ext cx="8717699" cy="700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1. Problem</a:t>
            </a:r>
          </a:p>
          <a:p>
            <a:pPr algn="just">
              <a:lnSpc>
                <a:spcPts val="3498"/>
              </a:lnSpc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Client may stop sending data</a:t>
            </a:r>
          </a:p>
          <a:p>
            <a:pPr algn="just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2.</a:t>
            </a:r>
            <a:r>
              <a:rPr lang="en-US" sz="2499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Solution</a:t>
            </a:r>
          </a:p>
          <a:p>
            <a:pPr algn="just" marL="539534" indent="-269767" lvl="1">
              <a:lnSpc>
                <a:spcPts val="3498"/>
              </a:lnSpc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Se</a:t>
            </a: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rver monitors message arrival time</a:t>
            </a:r>
          </a:p>
          <a:p>
            <a:pPr algn="just" marL="539534" indent="-269767" lvl="1">
              <a:lnSpc>
                <a:spcPts val="3498"/>
              </a:lnSpc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If timeout occurs:</a:t>
            </a:r>
          </a:p>
          <a:p>
            <a:pPr algn="just" marL="1079068" indent="-359689" lvl="2">
              <a:lnSpc>
                <a:spcPts val="3498"/>
              </a:lnSpc>
              <a:buFont typeface="Arial"/>
              <a:buChar char="⚬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Restart</a:t>
            </a: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clie</a:t>
            </a: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nt</a:t>
            </a: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 p</a:t>
            </a: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rocess</a:t>
            </a:r>
          </a:p>
          <a:p>
            <a:pPr algn="just" marL="1079068" indent="-359689" lvl="2">
              <a:lnSpc>
                <a:spcPts val="3498"/>
              </a:lnSpc>
              <a:buFont typeface="Arial"/>
              <a:buChar char="⚬"/>
            </a:pPr>
          </a:p>
          <a:p>
            <a:pPr algn="just">
              <a:lnSpc>
                <a:spcPts val="3499"/>
              </a:lnSpc>
            </a:pPr>
            <a:r>
              <a:rPr lang="en-US" b="true" sz="2499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3.</a:t>
            </a:r>
            <a:r>
              <a:rPr lang="en-US" b="true" sz="2499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Implementation</a:t>
            </a:r>
          </a:p>
          <a:p>
            <a:pPr algn="just" marL="539534" indent="-269767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Timeout detection using timers</a:t>
            </a:r>
          </a:p>
          <a:p>
            <a:pPr algn="just" marL="539534" indent="-269767" lvl="1">
              <a:lnSpc>
                <a:spcPts val="3498"/>
              </a:lnSpc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estart using process control</a:t>
            </a:r>
          </a:p>
          <a:p>
            <a:pPr algn="just">
              <a:lnSpc>
                <a:spcPts val="3498"/>
              </a:lnSpc>
            </a:pPr>
          </a:p>
          <a:p>
            <a:pPr algn="just">
              <a:lnSpc>
                <a:spcPts val="3499"/>
              </a:lnSpc>
            </a:pPr>
            <a:r>
              <a:rPr lang="en-US" b="true" sz="2499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4</a:t>
            </a: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r>
              <a:rPr lang="en-US" b="true" sz="2499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Result</a:t>
            </a:r>
          </a:p>
          <a:p>
            <a:pPr algn="just" marL="539534" indent="-269767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Self-healing system</a:t>
            </a:r>
          </a:p>
          <a:p>
            <a:pPr algn="just" marL="539534" indent="-269767" lvl="1">
              <a:lnSpc>
                <a:spcPts val="3498"/>
              </a:lnSpc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No</a:t>
            </a: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 full system restart needed</a:t>
            </a:r>
          </a:p>
          <a:p>
            <a:pPr algn="just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475298"/>
            <a:ext cx="11004693" cy="821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Process </a:t>
            </a:r>
            <a:r>
              <a:rPr lang="en-US" sz="4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Restart (Spawn &amp; Slay)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091933" y="9453705"/>
            <a:ext cx="3167367" cy="41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8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8415" y="1421127"/>
            <a:ext cx="6444253" cy="7837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2798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Slay</a:t>
            </a:r>
          </a:p>
          <a:p>
            <a:pPr algn="l" marL="604302" indent="-302151" lvl="1">
              <a:lnSpc>
                <a:spcPts val="4198"/>
              </a:lnSpc>
              <a:buFont typeface="Arial"/>
              <a:buChar char="•"/>
            </a:pP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Terminates faulty client</a:t>
            </a:r>
          </a:p>
          <a:p>
            <a:pPr algn="l">
              <a:lnSpc>
                <a:spcPts val="4198"/>
              </a:lnSpc>
            </a:pPr>
          </a:p>
          <a:p>
            <a:pPr algn="l">
              <a:lnSpc>
                <a:spcPts val="4199"/>
              </a:lnSpc>
            </a:pPr>
            <a:r>
              <a:rPr lang="en-US" sz="2798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Sp</a:t>
            </a:r>
            <a:r>
              <a:rPr lang="en-US" sz="2798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awn</a:t>
            </a:r>
          </a:p>
          <a:p>
            <a:pPr algn="l" marL="604302" indent="-302151" lvl="1">
              <a:lnSpc>
                <a:spcPts val="4198"/>
              </a:lnSpc>
              <a:buFont typeface="Arial"/>
              <a:buChar char="•"/>
            </a:pP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Used to create client process</a:t>
            </a:r>
          </a:p>
          <a:p>
            <a:pPr algn="l" marL="604302" indent="-302151" lvl="1">
              <a:lnSpc>
                <a:spcPts val="4198"/>
              </a:lnSpc>
              <a:buFont typeface="Arial"/>
              <a:buChar char="•"/>
            </a:pP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Enabl</a:t>
            </a: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es dynamic startup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  <a:r>
              <a:rPr lang="en-US" b="true" sz="2798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Workflow</a:t>
            </a:r>
          </a:p>
          <a:p>
            <a:pPr algn="l" marL="604302" indent="-302151" lvl="1">
              <a:lnSpc>
                <a:spcPts val="4198"/>
              </a:lnSpc>
              <a:buAutoNum type="arabicPeriod" startAt="1"/>
            </a:pP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D</a:t>
            </a: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etect timeout</a:t>
            </a:r>
          </a:p>
          <a:p>
            <a:pPr algn="l" marL="604302" indent="-302151" lvl="1">
              <a:lnSpc>
                <a:spcPts val="4199"/>
              </a:lnSpc>
              <a:buAutoNum type="arabicPeriod" startAt="1"/>
            </a:pP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slay client</a:t>
            </a:r>
          </a:p>
          <a:p>
            <a:pPr algn="l" marL="604302" indent="-302151" lvl="1">
              <a:lnSpc>
                <a:spcPts val="4198"/>
              </a:lnSpc>
              <a:buAutoNum type="arabicPeriod" startAt="1"/>
            </a:pP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spawn cl</a:t>
            </a: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ient</a:t>
            </a:r>
          </a:p>
          <a:p>
            <a:pPr algn="l">
              <a:lnSpc>
                <a:spcPts val="4198"/>
              </a:lnSpc>
            </a:pPr>
            <a:r>
              <a:rPr lang="en-US" b="true" sz="2798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Benefit</a:t>
            </a:r>
          </a:p>
          <a:p>
            <a:pPr algn="l" marL="604302" indent="-302151" lvl="1">
              <a:lnSpc>
                <a:spcPts val="4198"/>
              </a:lnSpc>
              <a:buFont typeface="Arial"/>
              <a:buChar char="•"/>
            </a:pP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Fault isolation</a:t>
            </a:r>
          </a:p>
          <a:p>
            <a:pPr algn="l" marL="604302" indent="-302151" lvl="1">
              <a:lnSpc>
                <a:spcPts val="4199"/>
              </a:lnSpc>
              <a:buFont typeface="Arial"/>
              <a:buChar char="•"/>
            </a:pP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Continuous operation</a:t>
            </a:r>
          </a:p>
          <a:p>
            <a:pPr algn="l" marL="639969" indent="-213323" lvl="2">
              <a:lnSpc>
                <a:spcPts val="419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857250"/>
            <a:ext cx="11759904" cy="75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Latency Measurement (Timers)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091933" y="9453705"/>
            <a:ext cx="3167367" cy="41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8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215629"/>
            <a:ext cx="13345792" cy="7425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8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Wh</a:t>
            </a:r>
            <a:r>
              <a:rPr lang="en-US" sz="2798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at is Latency?</a:t>
            </a:r>
          </a:p>
          <a:p>
            <a:pPr algn="l">
              <a:lnSpc>
                <a:spcPts val="3919"/>
              </a:lnSpc>
            </a:pP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Time from:</a:t>
            </a:r>
          </a:p>
          <a:p>
            <a:pPr algn="l">
              <a:lnSpc>
                <a:spcPts val="3918"/>
              </a:lnSpc>
            </a:pP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 C</a:t>
            </a: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lient send → Server receive</a:t>
            </a:r>
          </a:p>
          <a:p>
            <a:pPr algn="l">
              <a:lnSpc>
                <a:spcPts val="3919"/>
              </a:lnSpc>
            </a:pPr>
            <a:r>
              <a:rPr lang="en-US" sz="2798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2798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Implementation</a:t>
            </a:r>
          </a:p>
          <a:p>
            <a:pPr algn="l" marL="604302" indent="-302151" lvl="1">
              <a:lnSpc>
                <a:spcPts val="3918"/>
              </a:lnSpc>
              <a:buFont typeface="Arial"/>
              <a:buChar char="•"/>
            </a:pP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Using Timers:</a:t>
            </a:r>
          </a:p>
          <a:p>
            <a:pPr algn="l" marL="1208605" indent="-402868" lvl="2">
              <a:lnSpc>
                <a:spcPts val="3918"/>
              </a:lnSpc>
              <a:buFont typeface="Arial"/>
              <a:buChar char="⚬"/>
            </a:pP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ClockCycles</a:t>
            </a:r>
          </a:p>
          <a:p>
            <a:pPr algn="l" marL="1208605" indent="-402868" lvl="2">
              <a:lnSpc>
                <a:spcPts val="3919"/>
              </a:lnSpc>
              <a:buFont typeface="Arial"/>
              <a:buChar char="⚬"/>
            </a:pPr>
          </a:p>
          <a:p>
            <a:pPr algn="l" marL="604302" indent="-302151" lvl="1">
              <a:lnSpc>
                <a:spcPts val="3918"/>
              </a:lnSpc>
              <a:buFont typeface="Arial"/>
              <a:buChar char="•"/>
            </a:pP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Timestamp at:</a:t>
            </a:r>
          </a:p>
          <a:p>
            <a:pPr algn="l" marL="1208605" indent="-402868" lvl="2">
              <a:lnSpc>
                <a:spcPts val="3918"/>
              </a:lnSpc>
              <a:buFont typeface="Arial"/>
              <a:buChar char="⚬"/>
            </a:pP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Send</a:t>
            </a:r>
          </a:p>
          <a:p>
            <a:pPr algn="l" marL="1208605" indent="-402868" lvl="2">
              <a:lnSpc>
                <a:spcPts val="3918"/>
              </a:lnSpc>
              <a:buFont typeface="Arial"/>
              <a:buChar char="⚬"/>
            </a:pP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Receive</a:t>
            </a:r>
          </a:p>
          <a:p>
            <a:pPr algn="l">
              <a:lnSpc>
                <a:spcPts val="3918"/>
              </a:lnSpc>
            </a:pPr>
            <a:r>
              <a:rPr lang="en-US" sz="2798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Output</a:t>
            </a:r>
          </a:p>
          <a:p>
            <a:pPr algn="l" marL="604302" indent="-302151" lvl="1">
              <a:lnSpc>
                <a:spcPts val="3918"/>
              </a:lnSpc>
              <a:buFont typeface="Arial"/>
              <a:buChar char="•"/>
            </a:pP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Latency </a:t>
            </a: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in ms/µs</a:t>
            </a:r>
          </a:p>
          <a:p>
            <a:pPr algn="l">
              <a:lnSpc>
                <a:spcPts val="3918"/>
              </a:lnSpc>
            </a:pPr>
            <a:r>
              <a:rPr lang="en-US" b="true" sz="2798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true" sz="2798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Importance</a:t>
            </a:r>
          </a:p>
          <a:p>
            <a:pPr algn="l" marL="604302" indent="-302151" lvl="1">
              <a:lnSpc>
                <a:spcPts val="3919"/>
              </a:lnSpc>
              <a:buFont typeface="Arial"/>
              <a:buChar char="•"/>
            </a:pP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Validates real-time performance</a:t>
            </a:r>
          </a:p>
          <a:p>
            <a:pPr algn="l" marL="639969" indent="-213323" lvl="2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57250"/>
            <a:ext cx="11759904" cy="75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5"/>
              </a:lnSpc>
            </a:pPr>
            <a:r>
              <a:rPr lang="en-US" sz="45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Jit</a:t>
            </a:r>
            <a:r>
              <a:rPr lang="en-US" sz="45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ter Measurement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036309"/>
            <a:ext cx="8185547" cy="642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344E4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</a:t>
            </a:r>
            <a:r>
              <a:rPr lang="en-US" b="true" sz="2800">
                <a:solidFill>
                  <a:srgbClr val="344E4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 is Jitter?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Variation in latency over time</a:t>
            </a:r>
          </a:p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344E4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Calculation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Jitter = variation between consecutive latencies</a:t>
            </a:r>
          </a:p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344E4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Implementation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Store previous latency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Compute difference</a:t>
            </a:r>
          </a:p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344E4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Optional Enhancement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Use shared memory + mutex:</a:t>
            </a:r>
          </a:p>
          <a:p>
            <a:pPr algn="l" marL="1209045" indent="-403015" lvl="2">
              <a:lnSpc>
                <a:spcPts val="3920"/>
              </a:lnSpc>
              <a:buFont typeface="Arial"/>
              <a:buChar char="⚬"/>
            </a:pPr>
            <a:r>
              <a:rPr lang="en-US" sz="28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For logging/analysis</a:t>
            </a:r>
          </a:p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344E4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Importance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Stability of control systems</a:t>
            </a:r>
          </a:p>
          <a:p>
            <a:pPr algn="l">
              <a:lnSpc>
                <a:spcPts val="3920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4091933" y="9453705"/>
            <a:ext cx="3167367" cy="41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8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42975"/>
            <a:ext cx="11759904" cy="755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5"/>
              </a:lnSpc>
            </a:pPr>
            <a:r>
              <a:rPr lang="en-US" sz="44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CPU Usag</a:t>
            </a:r>
            <a:r>
              <a:rPr lang="en-US" sz="44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e Measurement in QNX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738748"/>
            <a:ext cx="15160553" cy="693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344E4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Methods</a:t>
            </a:r>
          </a:p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344E4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Using pidin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344E4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Command: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pidin -p &lt;pid&gt; times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Shows CPU time per process</a:t>
            </a:r>
          </a:p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344E4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Using top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Real-time CPU usage view</a:t>
            </a:r>
          </a:p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344E4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Programmatic Method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344E4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Use:</a:t>
            </a:r>
          </a:p>
          <a:p>
            <a:pPr algn="l" marL="1209045" indent="-403015" lvl="2">
              <a:lnSpc>
                <a:spcPts val="3920"/>
              </a:lnSpc>
              <a:buFont typeface="Arial"/>
              <a:buChar char="⚬"/>
            </a:pPr>
            <a:r>
              <a:rPr lang="en-US" sz="28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ClockCycles()</a:t>
            </a:r>
          </a:p>
          <a:p>
            <a:pPr algn="l" marL="1209045" indent="-403015" lvl="2">
              <a:lnSpc>
                <a:spcPts val="3920"/>
              </a:lnSpc>
              <a:buFont typeface="Arial"/>
              <a:buChar char="⚬"/>
            </a:pPr>
            <a:r>
              <a:rPr lang="en-US" sz="28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clock_gettime()</a:t>
            </a:r>
          </a:p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344E4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Formula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CPU Usage = (Process Time / Total Time) × 100</a:t>
            </a:r>
          </a:p>
          <a:p>
            <a:pPr algn="l">
              <a:lnSpc>
                <a:spcPts val="3920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4091933" y="9453705"/>
            <a:ext cx="3167367" cy="41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8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933450"/>
            <a:ext cx="777525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344E4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Results</a:t>
            </a:r>
            <a:r>
              <a:rPr lang="en-US" b="true" sz="5199">
                <a:solidFill>
                  <a:srgbClr val="344E4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&amp; Key Outcomes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411095"/>
            <a:ext cx="15160553" cy="540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Reliable IPC using message passing</a:t>
            </a:r>
          </a:p>
          <a:p>
            <a:pPr algn="l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Fault-tolerant restart mechanism</a:t>
            </a:r>
          </a:p>
          <a:p>
            <a:pPr algn="l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Measured:</a:t>
            </a:r>
          </a:p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        </a:t>
            </a:r>
            <a:r>
              <a:rPr lang="en-US" sz="31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Latency</a:t>
            </a:r>
          </a:p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        Jitter</a:t>
            </a:r>
          </a:p>
          <a:p>
            <a:pPr algn="l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CPU usage</a:t>
            </a:r>
          </a:p>
          <a:p>
            <a:pPr algn="l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Deterministic communication</a:t>
            </a:r>
          </a:p>
          <a:p>
            <a:pPr algn="l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Modular design</a:t>
            </a:r>
          </a:p>
          <a:p>
            <a:pPr algn="l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Real-time validation</a:t>
            </a:r>
          </a:p>
          <a:p>
            <a:pPr algn="l">
              <a:lnSpc>
                <a:spcPts val="434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4091933" y="9453705"/>
            <a:ext cx="3167367" cy="41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8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DAHHKJQQQgw</dc:identifier>
  <dcterms:modified xsi:type="dcterms:W3CDTF">2011-08-01T06:04:30Z</dcterms:modified>
  <cp:revision>1</cp:revision>
  <dc:title>Real-Time Drone Control using QNX RTOS</dc:title>
</cp:coreProperties>
</file>