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rata" charset="1" panose="00000500000000000000"/>
      <p:regular r:id="rId20"/>
    </p:embeddedFont>
    <p:embeddedFont>
      <p:font typeface="Raleway" charset="1" panose="00000000000000000000"/>
      <p:regular r:id="rId21"/>
    </p:embeddedFont>
    <p:embeddedFont>
      <p:font typeface="Raleway Bold" charset="1" panose="000000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62466" y="4412590"/>
            <a:ext cx="14563068" cy="73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6"/>
              </a:lnSpc>
            </a:pPr>
            <a:r>
              <a:rPr lang="en-US" sz="552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 Tolerance System for Aerial Vehicles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4732" y="9453705"/>
            <a:ext cx="591378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K. Saathvik Vardhan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453705"/>
            <a:ext cx="2956893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Nampally Rahul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0893" y="9453705"/>
            <a:ext cx="591378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Kukkadapu Sai Vinay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2703" y="6914031"/>
            <a:ext cx="3602593" cy="134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7"/>
              </a:lnSpc>
            </a:pPr>
            <a:r>
              <a:rPr lang="en-US" sz="31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By Team Airborne</a:t>
            </a:r>
          </a:p>
          <a:p>
            <a:pPr algn="ctr">
              <a:lnSpc>
                <a:spcPts val="5370"/>
              </a:lnSpc>
            </a:pPr>
            <a:r>
              <a:rPr lang="en-US" sz="30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3" y="9453705"/>
            <a:ext cx="31673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8200"/>
            <a:ext cx="9606534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2829822"/>
            <a:ext cx="7853363" cy="58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7"/>
              </a:lnSpc>
            </a:pP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Modern aerial systems such as advanced drones and eVTOL platforms rely on traditional real-time operating systems like VxWorks, INTEGRITY RTOS, PikeOS,</a:t>
            </a: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and Deos RTOS to achieve deterministic real-time performance.</a:t>
            </a:r>
          </a:p>
          <a:p>
            <a:pPr algn="just">
              <a:lnSpc>
                <a:spcPts val="4717"/>
              </a:lnSpc>
            </a:pPr>
          </a:p>
          <a:p>
            <a:pPr algn="just">
              <a:lnSpc>
                <a:spcPts val="4717"/>
              </a:lnSpc>
            </a:pPr>
            <a:r>
              <a:rPr lang="en-US" sz="27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However, these systems are built on static and tightly coupled architectural models, which impose significant limitations for next-generation, high-compute aerial platforms.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34762"/>
            <a:ext cx="11118471" cy="48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 no. 50 - Open Hardware Real-World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8014" y="3022209"/>
            <a:ext cx="7965363" cy="371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</a:pPr>
            <a:r>
              <a:rPr lang="en-US" b="true" sz="2813" spc="5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To addr</a:t>
            </a:r>
            <a:r>
              <a:rPr lang="en-US" b="true" sz="2813" spc="5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ess the limitations of traditional avionics RTOS architectures, this project implements a modular fault tolerance system in flight controllers on a Raspberry Pi 4 using QNX Neutrino RTOS, leveraging its microkernel architecture and synchronous message-passing IPC.</a:t>
            </a:r>
          </a:p>
        </p:txBody>
      </p:sp>
      <p:sp>
        <p:nvSpPr>
          <p:cNvPr name="AutoShape 9" id="9"/>
          <p:cNvSpPr/>
          <p:nvPr/>
        </p:nvSpPr>
        <p:spPr>
          <a:xfrm>
            <a:off x="9144000" y="2972697"/>
            <a:ext cx="0" cy="5729301"/>
          </a:xfrm>
          <a:prstGeom prst="line">
            <a:avLst/>
          </a:prstGeom>
          <a:ln cap="flat" w="38100">
            <a:solidFill>
              <a:srgbClr val="344E4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4116" y="942975"/>
            <a:ext cx="15179768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Fault-Tolerant Real-Time Communication in QNX (RPi 4)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3526" y="2268854"/>
            <a:ext cx="15179768" cy="559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Platforms : Respberry Pi 4</a:t>
            </a:r>
          </a:p>
          <a:p>
            <a:pPr algn="l">
              <a:lnSpc>
                <a:spcPts val="5609"/>
              </a:lnSpc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RTOS : QNX Neutrino</a:t>
            </a:r>
          </a:p>
          <a:p>
            <a:pPr algn="l">
              <a:lnSpc>
                <a:spcPts val="5609"/>
              </a:lnSpc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Sensor : MPU9250 (I2C)</a:t>
            </a:r>
          </a:p>
          <a:p>
            <a:pPr algn="l">
              <a:lnSpc>
                <a:spcPts val="5609"/>
              </a:lnSpc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FOCUS :</a:t>
            </a:r>
          </a:p>
          <a:p>
            <a:pPr algn="l" marL="734056" indent="-367028" lvl="1">
              <a:lnSpc>
                <a:spcPts val="5609"/>
              </a:lnSpc>
              <a:buFont typeface="Arial"/>
              <a:buChar char="•"/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IPC(Message Passing)</a:t>
            </a:r>
          </a:p>
          <a:p>
            <a:pPr algn="l" marL="734056" indent="-367028" lvl="1">
              <a:lnSpc>
                <a:spcPts val="5609"/>
              </a:lnSpc>
              <a:buFont typeface="Arial"/>
              <a:buChar char="•"/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 Tolerance</a:t>
            </a:r>
          </a:p>
          <a:p>
            <a:pPr algn="l" marL="734056" indent="-367028" lvl="1">
              <a:lnSpc>
                <a:spcPts val="5609"/>
              </a:lnSpc>
              <a:buFont typeface="Arial"/>
              <a:buChar char="•"/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Latency &amp; Jitter Analysis</a:t>
            </a:r>
          </a:p>
          <a:p>
            <a:pPr algn="l" marL="734056" indent="-367028" lvl="1">
              <a:lnSpc>
                <a:spcPts val="5609"/>
              </a:lnSpc>
              <a:buFont typeface="Arial"/>
              <a:buChar char="•"/>
            </a:pPr>
            <a:r>
              <a:rPr lang="en-US" sz="33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CPU Performance Monitoring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8115300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3724" y="5050479"/>
            <a:ext cx="10749324" cy="9525"/>
            <a:chOff x="0" y="0"/>
            <a:chExt cx="14332433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4319758" cy="12700"/>
            </a:xfrm>
            <a:custGeom>
              <a:avLst/>
              <a:gdLst/>
              <a:ahLst/>
              <a:cxnLst/>
              <a:rect r="r" b="b" t="t" l="l"/>
              <a:pathLst>
                <a:path h="12700" w="14319758">
                  <a:moveTo>
                    <a:pt x="0" y="0"/>
                  </a:moveTo>
                  <a:lnTo>
                    <a:pt x="14319758" y="0"/>
                  </a:lnTo>
                  <a:lnTo>
                    <a:pt x="1431975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4F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43624" y="1644682"/>
            <a:ext cx="9525" cy="6835721"/>
            <a:chOff x="0" y="0"/>
            <a:chExt cx="12700" cy="9114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6350"/>
              <a:ext cx="12700" cy="9101582"/>
            </a:xfrm>
            <a:custGeom>
              <a:avLst/>
              <a:gdLst/>
              <a:ahLst/>
              <a:cxnLst/>
              <a:rect r="r" b="b" t="t" l="l"/>
              <a:pathLst>
                <a:path h="9101582" w="12700">
                  <a:moveTo>
                    <a:pt x="12700" y="0"/>
                  </a:moveTo>
                  <a:lnTo>
                    <a:pt x="12700" y="9101582"/>
                  </a:lnTo>
                  <a:lnTo>
                    <a:pt x="0" y="910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4F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66243" y="2097653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Sensors: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22888" y="2687955"/>
            <a:ext cx="4587211" cy="19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NEO-M8N → Global positioning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MPU9250 → Client → Server</a:t>
            </a:r>
          </a:p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MS5611 → Altitude estimation</a:t>
            </a:r>
          </a:p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HMC5883L → Heading detection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26382" y="2040503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Actuators: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1690" y="2707005"/>
            <a:ext cx="4548559" cy="84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0771" indent="-143590" lvl="2">
              <a:lnSpc>
                <a:spcPts val="2826"/>
              </a:lnSpc>
              <a:buFont typeface="Arial"/>
              <a:buChar char="⚬"/>
            </a:pPr>
            <a:r>
              <a:rPr lang="en-US" sz="1883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BLDC Motors via ESC</a:t>
            </a:r>
          </a:p>
          <a:p>
            <a:pPr algn="l" marL="430771" indent="-143590" lvl="2">
              <a:lnSpc>
                <a:spcPts val="345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666243" y="5867400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Communication: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561" y="6454140"/>
            <a:ext cx="4343867" cy="23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38" indent="-159979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I2C → Barometer &amp; Magnetometer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iBUS → Receiver input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SPI → IMU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UART → GPS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126382" y="5867400"/>
            <a:ext cx="434386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Controller: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6382" y="6533902"/>
            <a:ext cx="434386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Raspberry Pi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750" y="2012909"/>
            <a:ext cx="4260713" cy="9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Compon</a:t>
            </a:r>
            <a:r>
              <a:rPr lang="en-US" sz="278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ents</a:t>
            </a:r>
          </a:p>
          <a:p>
            <a:pPr algn="l">
              <a:lnSpc>
                <a:spcPts val="375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2697480"/>
            <a:ext cx="4587211" cy="312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Process 2 (Client)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Reads MPU9250 via I2C</a:t>
            </a:r>
          </a:p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Process 1 (Server)</a:t>
            </a:r>
          </a:p>
          <a:p>
            <a:pPr algn="l" marL="453175" indent="-226587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eceives data via message passing</a:t>
            </a:r>
          </a:p>
          <a:p>
            <a:pPr algn="l">
              <a:lnSpc>
                <a:spcPts val="3148"/>
              </a:lnSpc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Monitor Logic</a:t>
            </a:r>
          </a:p>
          <a:p>
            <a:pPr algn="l" marL="479939" indent="-159980" lvl="2">
              <a:lnSpc>
                <a:spcPts val="3149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Detects failure &amp; restarts client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5876925"/>
            <a:ext cx="2735401" cy="42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Key</a:t>
            </a:r>
            <a:r>
              <a:rPr lang="en-US" sz="2501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Design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454140"/>
            <a:ext cx="4343867" cy="15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Fully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process-based (no shared memory for I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PC)</a:t>
            </a:r>
          </a:p>
          <a:p>
            <a:pPr algn="l" marL="479832" indent="-159944" lvl="2">
              <a:lnSpc>
                <a:spcPts val="3148"/>
              </a:lnSpc>
              <a:buFont typeface="Arial"/>
              <a:buChar char="⚬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Modular &amp; restartable</a:t>
            </a:r>
          </a:p>
          <a:p>
            <a:pPr algn="l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56581"/>
            <a:ext cx="18288000" cy="630419"/>
            <a:chOff x="0" y="0"/>
            <a:chExt cx="24384000" cy="840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40558"/>
            </a:xfrm>
            <a:custGeom>
              <a:avLst/>
              <a:gdLst/>
              <a:ahLst/>
              <a:cxnLst/>
              <a:rect r="r" b="b" t="t" l="l"/>
              <a:pathLst>
                <a:path h="8405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40558"/>
                  </a:lnTo>
                  <a:lnTo>
                    <a:pt x="0" y="840558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4735414" y="-1805743"/>
            <a:ext cx="8817173" cy="14107477"/>
          </a:xfrm>
          <a:custGeom>
            <a:avLst/>
            <a:gdLst/>
            <a:ahLst/>
            <a:cxnLst/>
            <a:rect r="r" b="b" t="t" l="l"/>
            <a:pathLst>
              <a:path h="14107477" w="8817173">
                <a:moveTo>
                  <a:pt x="8817172" y="0"/>
                </a:moveTo>
                <a:lnTo>
                  <a:pt x="8817172" y="14107476"/>
                </a:lnTo>
                <a:lnTo>
                  <a:pt x="0" y="14107476"/>
                </a:lnTo>
                <a:lnTo>
                  <a:pt x="0" y="0"/>
                </a:lnTo>
                <a:lnTo>
                  <a:pt x="881717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46905" y="9599431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8115300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IPC – Message Passing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2843"/>
            <a:ext cx="6239946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Mechanism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MsgSen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d() → Client sends data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MsgReceive() → Server receives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MsgReply() → Acknowledgement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28834"/>
            <a:ext cx="564773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Advantages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Synchronous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→ deterministic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Bu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ilt-in priority inheritance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No</a:t>
            </a:r>
            <a:r>
              <a:rPr lang="en-US" sz="2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race conditions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87285"/>
            <a:ext cx="845701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Sensor</a:t>
            </a: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data transferred reliably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No shared memory dependency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656209"/>
            <a:ext cx="9709566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Fault</a:t>
            </a: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Tolerance Mechanism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2825"/>
            <a:ext cx="8717699" cy="70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1. Problem</a:t>
            </a:r>
          </a:p>
          <a:p>
            <a:pPr algn="just">
              <a:lnSpc>
                <a:spcPts val="3498"/>
              </a:lnSpc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Client may stop sending data</a:t>
            </a:r>
          </a:p>
          <a:p>
            <a:pPr algn="just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rver monitors message arrival time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If timeout occurs:</a:t>
            </a:r>
          </a:p>
          <a:p>
            <a:pPr algn="just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Restart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clie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p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rocess</a:t>
            </a:r>
          </a:p>
          <a:p>
            <a:pPr algn="just" marL="1079068" indent="-359689" lvl="2">
              <a:lnSpc>
                <a:spcPts val="3498"/>
              </a:lnSpc>
              <a:buFont typeface="Arial"/>
              <a:buChar char="⚬"/>
            </a:pPr>
          </a:p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3.</a:t>
            </a: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Implementation</a:t>
            </a:r>
          </a:p>
          <a:p>
            <a:pPr algn="just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Timeout detection using timers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estart using process control</a:t>
            </a:r>
          </a:p>
          <a:p>
            <a:pPr algn="just">
              <a:lnSpc>
                <a:spcPts val="3498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4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Result</a:t>
            </a:r>
          </a:p>
          <a:p>
            <a:pPr algn="just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Self-healing system</a:t>
            </a:r>
          </a:p>
          <a:p>
            <a:pPr algn="just" marL="539534" indent="-269767" lvl="1">
              <a:lnSpc>
                <a:spcPts val="3498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No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full system restart needed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475298"/>
            <a:ext cx="11004693" cy="8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Process </a:t>
            </a: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Restart (Spawn &amp; Slay)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415" y="1421127"/>
            <a:ext cx="6444253" cy="783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Slay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Terminates faulty client</a:t>
            </a:r>
          </a:p>
          <a:p>
            <a:pPr algn="l">
              <a:lnSpc>
                <a:spcPts val="4198"/>
              </a:lnSpc>
            </a:pPr>
          </a:p>
          <a:p>
            <a:pPr algn="l">
              <a:lnSpc>
                <a:spcPts val="419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Sp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awn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Used to create client process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Enabl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 dynamic startup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</a:t>
            </a:r>
          </a:p>
          <a:p>
            <a:pPr algn="l" marL="604302" indent="-302151" lvl="1">
              <a:lnSpc>
                <a:spcPts val="4198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etect timeout</a:t>
            </a:r>
          </a:p>
          <a:p>
            <a:pPr algn="l" marL="604302" indent="-302151" lvl="1">
              <a:lnSpc>
                <a:spcPts val="4199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slay client</a:t>
            </a:r>
          </a:p>
          <a:p>
            <a:pPr algn="l" marL="604302" indent="-302151" lvl="1">
              <a:lnSpc>
                <a:spcPts val="4198"/>
              </a:lnSpc>
              <a:buAutoNum type="arabicPeriod" startAt="1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spawn cl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ient</a:t>
            </a:r>
          </a:p>
          <a:p>
            <a:pPr algn="l">
              <a:lnSpc>
                <a:spcPts val="4198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Benefit</a:t>
            </a:r>
          </a:p>
          <a:p>
            <a:pPr algn="l" marL="604302" indent="-302151" lvl="1">
              <a:lnSpc>
                <a:spcPts val="419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Fault isolation</a:t>
            </a:r>
          </a:p>
          <a:p>
            <a:pPr algn="l" marL="604302" indent="-302151" lvl="1">
              <a:lnSpc>
                <a:spcPts val="4199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Continuous operation</a:t>
            </a:r>
          </a:p>
          <a:p>
            <a:pPr algn="l" marL="639969" indent="-213323" lvl="2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57250"/>
            <a:ext cx="11759904" cy="75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Latency Measurement (Timers)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5629"/>
            <a:ext cx="13345792" cy="742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Wh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at is Latency?</a:t>
            </a:r>
          </a:p>
          <a:p>
            <a:pPr algn="l">
              <a:lnSpc>
                <a:spcPts val="3919"/>
              </a:lnSpc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 from:</a:t>
            </a:r>
          </a:p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lient send → Server receive</a:t>
            </a:r>
          </a:p>
          <a:p>
            <a:pPr algn="l">
              <a:lnSpc>
                <a:spcPts val="3919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Implementation</a:t>
            </a: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Using Timers: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ClockCycles</a:t>
            </a:r>
          </a:p>
          <a:p>
            <a:pPr algn="l" marL="1208605" indent="-402868" lvl="2">
              <a:lnSpc>
                <a:spcPts val="3919"/>
              </a:lnSpc>
              <a:buFont typeface="Arial"/>
              <a:buChar char="⚬"/>
            </a:pP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Timestamp at: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Send</a:t>
            </a:r>
          </a:p>
          <a:p>
            <a:pPr algn="l" marL="1208605" indent="-402868" lvl="2">
              <a:lnSpc>
                <a:spcPts val="3918"/>
              </a:lnSpc>
              <a:buFont typeface="Arial"/>
              <a:buChar char="⚬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Receive</a:t>
            </a:r>
          </a:p>
          <a:p>
            <a:pPr algn="l">
              <a:lnSpc>
                <a:spcPts val="3918"/>
              </a:lnSpc>
            </a:pPr>
            <a:r>
              <a:rPr lang="en-US" sz="2798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Output</a:t>
            </a:r>
          </a:p>
          <a:p>
            <a:pPr algn="l" marL="604302" indent="-302151" lvl="1">
              <a:lnSpc>
                <a:spcPts val="3918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Latency </a:t>
            </a: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in ms/µs</a:t>
            </a:r>
          </a:p>
          <a:p>
            <a:pPr algn="l">
              <a:lnSpc>
                <a:spcPts val="3918"/>
              </a:lnSpc>
            </a:pP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798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Importance</a:t>
            </a:r>
          </a:p>
          <a:p>
            <a:pPr algn="l" marL="604302" indent="-302151" lvl="1">
              <a:lnSpc>
                <a:spcPts val="3919"/>
              </a:lnSpc>
              <a:buFont typeface="Arial"/>
              <a:buChar char="•"/>
            </a:pPr>
            <a:r>
              <a:rPr lang="en-US" sz="2798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Validates real-time performance</a:t>
            </a:r>
          </a:p>
          <a:p>
            <a:pPr algn="l" marL="639969" indent="-213323" lvl="2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7250"/>
            <a:ext cx="11759904" cy="75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5"/>
              </a:lnSpc>
            </a:pP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Jit</a:t>
            </a:r>
            <a:r>
              <a:rPr lang="en-US" sz="45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ter Measurement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36309"/>
            <a:ext cx="8185547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</a:t>
            </a: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is Jitter?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Variation in latency over time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Jitter = variation between consecutive latencies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Store previous latency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Compute difference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Optional Enhancement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Use shared memory + mutex: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For logging/analysis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Stability of control systems</a:t>
            </a:r>
          </a:p>
          <a:p>
            <a:pPr algn="l">
              <a:lnSpc>
                <a:spcPts val="39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1759904" cy="75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4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CPU Usag</a:t>
            </a:r>
            <a:r>
              <a:rPr lang="en-US" sz="4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 Measurement in QNX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38748"/>
            <a:ext cx="15160553" cy="693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Methods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Using pidin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Command: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pidin -p &lt;pid&gt; times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Shows CPU time per process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Using top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Real-time CPU usage view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Programmatic Method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ClockCycles()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clock_gettime()</a:t>
            </a: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344E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CPU Usage = (Process Time / Total Time) × 100</a:t>
            </a:r>
          </a:p>
          <a:p>
            <a:pPr algn="l">
              <a:lnSpc>
                <a:spcPts val="39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6082" y="923925"/>
            <a:ext cx="776049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Results &amp; Key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11095"/>
            <a:ext cx="10063749" cy="540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Reliable IPC using message passing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Fault-tolerant restart mechanism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Measured: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Latency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       Jitter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CPU usage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Deterministic communication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Modular design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Real-time validation</a:t>
            </a:r>
          </a:p>
          <a:p>
            <a:pPr algn="l">
              <a:lnSpc>
                <a:spcPts val="43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23049" y="776145"/>
            <a:ext cx="16041901" cy="8482155"/>
          </a:xfrm>
          <a:custGeom>
            <a:avLst/>
            <a:gdLst/>
            <a:ahLst/>
            <a:cxnLst/>
            <a:rect r="r" b="b" t="t" l="l"/>
            <a:pathLst>
              <a:path h="8482155" w="16041901">
                <a:moveTo>
                  <a:pt x="0" y="0"/>
                </a:moveTo>
                <a:lnTo>
                  <a:pt x="16041902" y="0"/>
                </a:lnTo>
                <a:lnTo>
                  <a:pt x="16041902" y="8482155"/>
                </a:lnTo>
                <a:lnTo>
                  <a:pt x="0" y="8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776145"/>
            <a:ext cx="16041901" cy="8482155"/>
          </a:xfrm>
          <a:custGeom>
            <a:avLst/>
            <a:gdLst/>
            <a:ahLst/>
            <a:cxnLst/>
            <a:rect r="r" b="b" t="t" l="l"/>
            <a:pathLst>
              <a:path h="8482155" w="16041901">
                <a:moveTo>
                  <a:pt x="0" y="0"/>
                </a:moveTo>
                <a:lnTo>
                  <a:pt x="16041901" y="0"/>
                </a:lnTo>
                <a:lnTo>
                  <a:pt x="16041901" y="8482155"/>
                </a:lnTo>
                <a:lnTo>
                  <a:pt x="0" y="8482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91933" y="9453705"/>
            <a:ext cx="3167367" cy="41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8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DAHHKJQQQgw</dc:identifier>
  <dcterms:modified xsi:type="dcterms:W3CDTF">2011-08-01T06:04:30Z</dcterms:modified>
  <cp:revision>1</cp:revision>
  <dc:title>Real-Time Drone Control using QNX RTOS</dc:title>
</cp:coreProperties>
</file>